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6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3074B5"/>
                </a:solidFill>
                <a:latin typeface="Aptos"/>
              </a:rPr>
              <a:t>TAL</a:t>
            </a:r>
            <a:r>
              <a:rPr lang="en-US" sz="1300" b="1" dirty="0">
                <a:solidFill>
                  <a:srgbClr val="3074B5"/>
                </a:solidFill>
                <a:latin typeface="Aptos"/>
              </a:rPr>
              <a:t>E</a:t>
            </a:r>
            <a:r>
              <a:rPr sz="1300" b="1" dirty="0">
                <a:solidFill>
                  <a:srgbClr val="3074B5"/>
                </a:solidFill>
                <a:latin typeface="Aptos"/>
              </a:rPr>
              <a:t>NTIQ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53312"/>
            <a:ext cx="8046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1C3456"/>
                </a:solidFill>
                <a:latin typeface="Aptos"/>
              </a:rPr>
              <a:t>AI-Powered Resume Analyzer
&amp; Interview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2761488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647484"/>
                </a:solidFill>
                <a:latin typeface="Aptos"/>
              </a:rPr>
              <a:t>AI-based recruitment support system for faster and smarter resume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3794760"/>
            <a:ext cx="2057400" cy="384048"/>
          </a:xfrm>
          <a:prstGeom prst="roundRect">
            <a:avLst/>
          </a:prstGeom>
          <a:solidFill>
            <a:srgbClr val="E8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3867912"/>
            <a:ext cx="2057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dirty="0">
                <a:solidFill>
                  <a:srgbClr val="3074B5"/>
                </a:solidFill>
                <a:latin typeface="Aptos"/>
              </a:rPr>
              <a:t>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3794760"/>
            <a:ext cx="1325880" cy="384048"/>
          </a:xfrm>
          <a:prstGeom prst="roundRect">
            <a:avLst/>
          </a:prstGeom>
          <a:solidFill>
            <a:srgbClr val="E8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07792" y="3867912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309997"/>
                </a:solidFill>
                <a:latin typeface="Aptos"/>
              </a:rPr>
              <a:t>FULL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3794760"/>
            <a:ext cx="1600200" cy="384048"/>
          </a:xfrm>
          <a:prstGeom prst="roundRect">
            <a:avLst/>
          </a:prstGeom>
          <a:solidFill>
            <a:srgbClr val="F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3867912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735BA5"/>
                </a:solidFill>
                <a:latin typeface="Aptos"/>
              </a:rPr>
              <a:t>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715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3746"/>
                </a:solidFill>
                <a:latin typeface="Aptos"/>
              </a:rPr>
              <a:t>MSc IT  •  Team 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605332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4"/>
                </a:solidFill>
                <a:latin typeface="Aptos"/>
              </a:rPr>
              <a:t>Utang Patel  •  Shreya Raval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234440"/>
            <a:ext cx="2971800" cy="4251960"/>
          </a:xfrm>
          <a:prstGeom prst="roundRect">
            <a:avLst/>
          </a:prstGeom>
          <a:solidFill>
            <a:srgbClr val="F7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96528" y="1920240"/>
            <a:ext cx="2103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30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87968" y="2066544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Resume Upload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2743200"/>
            <a:ext cx="2103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30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87968" y="2889504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AI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3566160"/>
            <a:ext cx="2103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73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87968" y="3712463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Job Matching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96528" y="4389120"/>
            <a:ext cx="2103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4535424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Recruiter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1. Current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Current situation faced by recruiters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3074B5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400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60020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3456"/>
                </a:solidFill>
                <a:latin typeface="Aptos"/>
              </a:rPr>
              <a:t>CURRENT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598932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A3746"/>
                </a:solidFill>
                <a:latin typeface="Aptos"/>
              </a:rPr>
              <a:t>Recruiters receive many resumes for a job and often review candidate profiles and prepare interview questions manually.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17320"/>
            <a:ext cx="4069080" cy="1600200"/>
          </a:xfrm>
          <a:prstGeom prst="roundRect">
            <a:avLst/>
          </a:prstGeom>
          <a:solidFill>
            <a:srgbClr val="E8F7F6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60920" y="1417320"/>
            <a:ext cx="64008" cy="160020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1600200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3456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039112"/>
            <a:ext cx="36576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A3746"/>
                </a:solidFill>
                <a:latin typeface="Aptos"/>
              </a:rPr>
              <a:t>A high volume of applications makes manual screening slow and makes consistent comparison difficult.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456"/>
                </a:solidFill>
                <a:latin typeface="Aptos"/>
              </a:rPr>
              <a:t>CURRENT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144740"/>
            <a:ext cx="210312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>
                <a:solidFill>
                  <a:srgbClr val="1C3456"/>
                </a:solidFill>
                <a:latin typeface="Aptos"/>
              </a:rPr>
              <a:t>Receive many resumes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4133087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38862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0168" y="4144740"/>
            <a:ext cx="210312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C3456"/>
                </a:solidFill>
                <a:latin typeface="Aptos"/>
              </a:rPr>
              <a:t>Review resumes manually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4133087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8862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3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144740"/>
            <a:ext cx="210312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>
                <a:solidFill>
                  <a:srgbClr val="1C3456"/>
                </a:solidFill>
                <a:latin typeface="Aptos"/>
              </a:rPr>
              <a:t>Compare candidates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133087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8862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7" y="4144740"/>
            <a:ext cx="210312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>
                <a:solidFill>
                  <a:srgbClr val="1C3456"/>
                </a:solidFill>
                <a:latin typeface="Aptos"/>
              </a:rPr>
              <a:t>Prepare interview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66360"/>
            <a:ext cx="10744200" cy="713232"/>
          </a:xfrm>
          <a:prstGeom prst="roundRect">
            <a:avLst/>
          </a:prstGeom>
          <a:solidFill>
            <a:srgbClr val="FDEFE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5166360"/>
            <a:ext cx="64008" cy="713232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282443"/>
            <a:ext cx="10332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3456"/>
                </a:solidFill>
                <a:latin typeface="Aptos"/>
              </a:rPr>
              <a:t>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597642"/>
            <a:ext cx="103327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A3746"/>
                </a:solidFill>
                <a:latin typeface="Aptos"/>
              </a:rPr>
              <a:t>Recruiters spend significant time on repetitive tasks before reaching the final hiring decision.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 dirty="0">
                <a:solidFill>
                  <a:srgbClr val="647484"/>
                </a:solidFill>
                <a:latin typeface="Aptos"/>
              </a:rPr>
              <a:t>TAL</a:t>
            </a:r>
            <a:r>
              <a:rPr lang="en-US" sz="750" b="1" dirty="0">
                <a:solidFill>
                  <a:srgbClr val="647484"/>
                </a:solidFill>
                <a:latin typeface="Aptos"/>
              </a:rPr>
              <a:t>E</a:t>
            </a:r>
            <a:r>
              <a:rPr sz="750" b="1" dirty="0">
                <a:solidFill>
                  <a:srgbClr val="647484"/>
                </a:solidFill>
                <a:latin typeface="Aptos"/>
              </a:rPr>
              <a:t>NTIQ  •  AI-POWERED RESUME ANALYZER &amp; INTERVIEW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2. Main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Key difficulties in the existing recruitment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E26C5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18872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Manual 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A3746"/>
                </a:solidFill>
                <a:latin typeface="Aptos"/>
              </a:rPr>
              <a:t>Resume review is repetitive and time-consuming.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64008" cy="118872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Large Application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A3746"/>
                </a:solidFill>
                <a:latin typeface="Aptos"/>
              </a:rPr>
              <a:t>Many applications increase the screening workload.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41732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19" y="1417320"/>
            <a:ext cx="64008" cy="1188720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60020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Skill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A3746"/>
                </a:solidFill>
                <a:latin typeface="Aptos"/>
              </a:rPr>
              <a:t>Candidate skills are difficult to compare consistently with job requirements.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3464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834640"/>
            <a:ext cx="64008" cy="1188720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01752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Skill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56432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A3746"/>
                </a:solidFill>
                <a:latin typeface="Aptos"/>
              </a:rPr>
              <a:t>Important missing skills can be overlooked during manual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83464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2834640"/>
            <a:ext cx="64008" cy="1188720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01752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Interview Preparation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56432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A3746"/>
                </a:solidFill>
                <a:latin typeface="Aptos"/>
              </a:rPr>
              <a:t>Preparing relevant questions adds extra effort.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283464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19" y="2834640"/>
            <a:ext cx="64008" cy="118872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19" y="301752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Candidate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456432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A3746"/>
                </a:solidFill>
                <a:latin typeface="Aptos"/>
              </a:rPr>
              <a:t>Comparing many candidates manually is difficult.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17720"/>
            <a:ext cx="10927080" cy="1143000"/>
          </a:xfrm>
          <a:prstGeom prst="roundRect">
            <a:avLst/>
          </a:prstGeom>
          <a:solidFill>
            <a:srgbClr val="FDEFE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617720"/>
            <a:ext cx="64008" cy="1143000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800600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C3456"/>
                </a:solidFill>
                <a:latin typeface="Aptos"/>
              </a:rPr>
              <a:t>CORE 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239512"/>
            <a:ext cx="105156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2A3746"/>
                </a:solidFill>
                <a:latin typeface="Aptos"/>
              </a:rPr>
              <a:t>How can AI reduce repetitive screening work while giving recruiters clear and structured candidate insights?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3.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What the proposed system should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91088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309997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6"/>
                </a:solidFill>
                <a:latin typeface="Aptos"/>
              </a:rPr>
              <a:t>EXPECTED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25420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10512"/>
            <a:ext cx="64008" cy="1024128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21305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3456"/>
                </a:solidFill>
                <a:latin typeface="Aptos"/>
              </a:rPr>
              <a:t>Faster Resume 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32304"/>
            <a:ext cx="21305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A3746"/>
                </a:solidFill>
                <a:latin typeface="Aptos"/>
              </a:rPr>
              <a:t>Reduce the time required to review resumes.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10512"/>
            <a:ext cx="25420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810512"/>
            <a:ext cx="64008" cy="1024128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993392"/>
            <a:ext cx="21305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3456"/>
                </a:solidFill>
                <a:latin typeface="Aptos"/>
              </a:rPr>
              <a:t>Job-Fit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32304"/>
            <a:ext cx="21305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A3746"/>
                </a:solidFill>
                <a:latin typeface="Aptos"/>
              </a:rPr>
              <a:t>Show how well a candidate matches the job.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10512"/>
            <a:ext cx="25420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810512"/>
            <a:ext cx="64008" cy="1024128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993392"/>
            <a:ext cx="21305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3456"/>
                </a:solidFill>
                <a:latin typeface="Aptos"/>
              </a:rPr>
              <a:t>Matched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32304"/>
            <a:ext cx="21305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A3746"/>
                </a:solidFill>
                <a:latin typeface="Aptos"/>
              </a:rPr>
              <a:t>Identify skills that align with the job.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810512"/>
            <a:ext cx="25420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39" y="1810512"/>
            <a:ext cx="64008" cy="1024128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39" y="1993392"/>
            <a:ext cx="21305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3456"/>
                </a:solidFill>
                <a:latin typeface="Aptos"/>
              </a:rPr>
              <a:t>Skill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2432304"/>
            <a:ext cx="21305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A3746"/>
                </a:solidFill>
                <a:latin typeface="Aptos"/>
              </a:rPr>
              <a:t>Highlight missing or insufficient skills.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072384"/>
            <a:ext cx="25420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072384"/>
            <a:ext cx="64008" cy="1024128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255264"/>
            <a:ext cx="21305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3456"/>
                </a:solidFill>
                <a:latin typeface="Aptos"/>
              </a:rPr>
              <a:t>Resume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694176"/>
            <a:ext cx="21305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A3746"/>
                </a:solidFill>
                <a:latin typeface="Aptos"/>
              </a:rPr>
              <a:t>Provide a concise candidate overview.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072384"/>
            <a:ext cx="25420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29000" y="3072384"/>
            <a:ext cx="64008" cy="1024128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3255264"/>
            <a:ext cx="21305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3456"/>
                </a:solidFill>
                <a:latin typeface="Aptos"/>
              </a:rPr>
              <a:t>Interview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694176"/>
            <a:ext cx="21305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A3746"/>
                </a:solidFill>
                <a:latin typeface="Aptos"/>
              </a:rPr>
              <a:t>Generate personalized interview questions.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072384"/>
            <a:ext cx="25420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072384"/>
            <a:ext cx="64008" cy="1024128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255264"/>
            <a:ext cx="21305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3456"/>
                </a:solidFill>
                <a:latin typeface="Aptos"/>
              </a:rPr>
              <a:t>Candidate 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694176"/>
            <a:ext cx="21305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A3746"/>
                </a:solidFill>
                <a:latin typeface="Aptos"/>
              </a:rPr>
              <a:t>Make candidate comparison easier.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39" y="3072384"/>
            <a:ext cx="254203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06839" y="3072384"/>
            <a:ext cx="64008" cy="1024128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39" y="3255264"/>
            <a:ext cx="21305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3456"/>
                </a:solidFill>
                <a:latin typeface="Aptos"/>
              </a:rPr>
              <a:t>Structured 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39" y="3694176"/>
            <a:ext cx="21305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A3746"/>
                </a:solidFill>
                <a:latin typeface="Aptos"/>
              </a:rPr>
              <a:t>Present useful information in one dashboard.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00600"/>
            <a:ext cx="10927080" cy="960120"/>
          </a:xfrm>
          <a:prstGeom prst="roundRect">
            <a:avLst/>
          </a:prstGeom>
          <a:solidFill>
            <a:srgbClr val="FDEFE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4800600"/>
            <a:ext cx="64008" cy="960120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4928616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3456"/>
                </a:solidFill>
                <a:latin typeface="Aptos"/>
              </a:rPr>
              <a:t>EXPECTED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378231"/>
            <a:ext cx="10515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A3746"/>
                </a:solidFill>
                <a:latin typeface="Aptos"/>
              </a:rPr>
              <a:t>Reduce repetitive screening effort and help recruiters make faster, more informed decisions.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AI assistant that supports — not replaces — the recruiter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35BA5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456"/>
                </a:solidFill>
                <a:latin typeface="Aptos"/>
              </a:rPr>
              <a:t>HOW THE SOLUTION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5727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0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1C3456"/>
                </a:solidFill>
                <a:latin typeface="Aptos"/>
              </a:rPr>
              <a:t>Upload Resume
+ Job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3704" y="217627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874519"/>
            <a:ext cx="15727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0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2084831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1C3456"/>
                </a:solidFill>
                <a:latin typeface="Aptos"/>
              </a:rPr>
              <a:t>Extract
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217627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15727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3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2084831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1C3456"/>
                </a:solidFill>
                <a:latin typeface="Aptos"/>
              </a:rPr>
              <a:t>Analyze
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17627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874519"/>
            <a:ext cx="15727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2084831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1C3456"/>
                </a:solidFill>
                <a:latin typeface="Aptos"/>
              </a:rPr>
              <a:t>Match Skills
&amp;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17627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1874519"/>
            <a:ext cx="15727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A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6" y="2084831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1C3456"/>
                </a:solidFill>
                <a:latin typeface="Aptos"/>
              </a:rPr>
              <a:t>Generate
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217627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1874519"/>
            <a:ext cx="1572768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0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68128" y="2084831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1C3456"/>
                </a:solidFill>
                <a:latin typeface="Aptos"/>
              </a:rPr>
              <a:t>Recruiter
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37560"/>
            <a:ext cx="5212080" cy="1508760"/>
          </a:xfrm>
          <a:prstGeom prst="roundRect">
            <a:avLst/>
          </a:prstGeom>
          <a:solidFill>
            <a:srgbClr val="E8F7F6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3337560"/>
            <a:ext cx="64008" cy="150876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421724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C3456"/>
                </a:solidFill>
                <a:latin typeface="Aptos"/>
              </a:rPr>
              <a:t>WHAT THE RECRUITER 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71900"/>
            <a:ext cx="4800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2A3746"/>
                </a:solidFill>
                <a:latin typeface="Aptos"/>
              </a:rPr>
              <a:t>Job-fit score
Matched and missing skills
Resume summary
Personalized interview questions
Candidate ranking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337560"/>
            <a:ext cx="5212080" cy="1508760"/>
          </a:xfrm>
          <a:prstGeom prst="roundRect">
            <a:avLst/>
          </a:prstGeom>
          <a:solidFill>
            <a:srgbClr val="FDEFE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337560"/>
            <a:ext cx="64008" cy="1508760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3421724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C3456"/>
                </a:solidFill>
                <a:latin typeface="Aptos"/>
              </a:rPr>
              <a:t>HUMAN-IN-THE-LOOP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59352"/>
            <a:ext cx="4800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2A3746"/>
                </a:solidFill>
                <a:latin typeface="Aptos"/>
              </a:rPr>
              <a:t>The AI provides analysis and recommendations, while the recruiter remains responsible for the final hiring decision.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212080"/>
            <a:ext cx="10698480" cy="685800"/>
          </a:xfrm>
          <a:prstGeom prst="roundRect">
            <a:avLst/>
          </a:prstGeom>
          <a:solidFill>
            <a:srgbClr val="E8F2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5212080"/>
            <a:ext cx="64008" cy="68580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285231"/>
            <a:ext cx="10287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C3456"/>
                </a:solidFill>
                <a:latin typeface="Aptos"/>
              </a:rPr>
              <a:t>PROJECT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77987"/>
            <a:ext cx="1028700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A3746"/>
                </a:solidFill>
                <a:latin typeface="Aptos"/>
              </a:rPr>
              <a:t>Faster screening • Consistent candidate insights • Easier comparison • Better interview preparation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5.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From resume upload to recruiter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3074B5"/>
                </a:solidFill>
                <a:latin typeface="Aptos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70757" y="1527785"/>
            <a:ext cx="457200" cy="457200"/>
          </a:xfrm>
          <a:prstGeom prst="ellipse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757" y="1628516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1872" y="1399032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643131"/>
            <a:ext cx="1645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C3456"/>
                </a:solidFill>
                <a:latin typeface="Aptos"/>
              </a:rPr>
              <a:t>Resume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161848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459185" y="1527785"/>
            <a:ext cx="457200" cy="457200"/>
          </a:xfrm>
          <a:prstGeom prst="ellipse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9185" y="1655801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0791" y="1399032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643131"/>
            <a:ext cx="1645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C3456"/>
                </a:solidFill>
                <a:latin typeface="Aptos"/>
              </a:rPr>
              <a:t>Text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161848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318504" y="1519622"/>
            <a:ext cx="457200" cy="457200"/>
          </a:xfrm>
          <a:prstGeom prst="ellipse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164763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2" y="1399032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1643131"/>
            <a:ext cx="1645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Resume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3" y="161848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079991" y="1525082"/>
            <a:ext cx="457200" cy="457200"/>
          </a:xfrm>
          <a:prstGeom prst="ellipse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79991" y="1653098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28631" y="1399032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38359" y="1643131"/>
            <a:ext cx="1645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C3456"/>
                </a:solidFill>
                <a:latin typeface="Aptos"/>
              </a:rPr>
              <a:t>Job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9" y="253898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647484"/>
                </a:solidFill>
                <a:latin typeface="Aptos"/>
              </a:rPr>
              <a:t>↓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" y="3225866"/>
            <a:ext cx="457200" cy="457200"/>
          </a:xfrm>
          <a:prstGeom prst="ellipse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3353882"/>
            <a:ext cx="457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ptos"/>
              </a:rPr>
              <a:t>8</a:t>
            </a:r>
            <a:endParaRPr sz="9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61872" y="3090672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56064" y="3332480"/>
            <a:ext cx="1645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100" b="1" dirty="0">
                <a:solidFill>
                  <a:srgbClr val="1C3456"/>
                </a:solidFill>
                <a:latin typeface="Aptos"/>
              </a:rPr>
              <a:t>Recruiter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33101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3459185" y="3225866"/>
            <a:ext cx="457200" cy="457200"/>
          </a:xfrm>
          <a:prstGeom prst="ellipse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59185" y="3353882"/>
            <a:ext cx="457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ptos"/>
              </a:rPr>
              <a:t>7</a:t>
            </a:r>
            <a:endParaRPr sz="9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050791" y="3090672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60520" y="3334512"/>
            <a:ext cx="1645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100" b="1" dirty="0">
                <a:solidFill>
                  <a:srgbClr val="1C3456"/>
                </a:solidFill>
                <a:latin typeface="Aptos"/>
              </a:rPr>
              <a:t>Interview Questions</a:t>
            </a:r>
            <a:endParaRPr sz="1100" b="1" dirty="0">
              <a:solidFill>
                <a:srgbClr val="1C3456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52744" y="33101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6281926" y="3225866"/>
            <a:ext cx="457200" cy="457200"/>
          </a:xfrm>
          <a:prstGeom prst="ellipse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281926" y="3353882"/>
            <a:ext cx="457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ptos"/>
              </a:rPr>
              <a:t>6</a:t>
            </a:r>
            <a:endParaRPr sz="9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839712" y="3090672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49440" y="3323661"/>
            <a:ext cx="1645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100" b="1" dirty="0">
                <a:solidFill>
                  <a:srgbClr val="1C3456"/>
                </a:solidFill>
                <a:latin typeface="Aptos"/>
              </a:rPr>
              <a:t>AI Score + Skill Gaps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3" y="33101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9079991" y="3225866"/>
            <a:ext cx="457200" cy="457200"/>
          </a:xfrm>
          <a:prstGeom prst="ellipse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79991" y="3353882"/>
            <a:ext cx="457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ptos"/>
              </a:rPr>
              <a:t>5</a:t>
            </a:r>
            <a:endParaRPr sz="9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628631" y="3090672"/>
            <a:ext cx="1874519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38359" y="3324352"/>
            <a:ext cx="1645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100" b="1" dirty="0">
                <a:solidFill>
                  <a:srgbClr val="1C3456"/>
                </a:solidFill>
                <a:latin typeface="Aptos"/>
              </a:rPr>
              <a:t>Skill &amp; Job Matching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010912"/>
            <a:ext cx="10972800" cy="822960"/>
          </a:xfrm>
          <a:prstGeom prst="roundRect">
            <a:avLst/>
          </a:prstGeom>
          <a:solidFill>
            <a:srgbClr val="E8F7F6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" y="5010912"/>
            <a:ext cx="64008" cy="82296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7824" y="5113909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C3456"/>
                </a:solidFill>
                <a:latin typeface="Aptos"/>
              </a:rPr>
              <a:t>RECRUITER GETS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441565"/>
            <a:ext cx="105613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A3746"/>
                </a:solidFill>
                <a:latin typeface="Aptos"/>
              </a:rPr>
              <a:t>Job-fit score • Matched skills • Skill gaps • Resume summary • Interview questions • Candidate ranking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6. Technologies / Tools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Technology stack and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3074B5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64008" cy="91440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React.js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75104"/>
            <a:ext cx="4846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Build recruiter interface and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5331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53312"/>
            <a:ext cx="64008" cy="91440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3619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75104"/>
            <a:ext cx="4846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Create a responsive and clean 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50591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450591"/>
            <a:ext cx="64008" cy="914400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63347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Python +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72384"/>
            <a:ext cx="4846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Build APIs and handle backend logic.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450591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450591"/>
            <a:ext cx="64008" cy="914400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63347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72384"/>
            <a:ext cx="4846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Store users, jobs, candidates, skills and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4787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547872"/>
            <a:ext cx="64008" cy="914400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73075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NLP + LLM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9663"/>
            <a:ext cx="4846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Understand resume text and generate AI insights.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54787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547872"/>
            <a:ext cx="64008" cy="91440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73075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Pandas + NumPy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69663"/>
            <a:ext cx="4846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Process and analyze structured data.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4515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645152"/>
            <a:ext cx="64008" cy="91440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82803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Recharts / Plotly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266944"/>
            <a:ext cx="4846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Visualize scores, rankings and analytics.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64515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4645152"/>
            <a:ext cx="64008" cy="914400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482803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Git + GitHub + Postman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266944"/>
            <a:ext cx="4846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Version control and API testing.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788152"/>
            <a:ext cx="10972800" cy="502920"/>
          </a:xfrm>
          <a:prstGeom prst="roundRect">
            <a:avLst/>
          </a:prstGeom>
          <a:solidFill>
            <a:srgbClr val="E8F2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640080" y="5788152"/>
            <a:ext cx="64008" cy="50292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5815584"/>
            <a:ext cx="105613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3456"/>
                </a:solidFill>
                <a:latin typeface="Aptos"/>
              </a:rPr>
              <a:t>STACK </a:t>
            </a:r>
            <a:r>
              <a:rPr sz="1000" b="1" dirty="0">
                <a:solidFill>
                  <a:srgbClr val="1C3456"/>
                </a:solidFill>
                <a:latin typeface="Aptos"/>
              </a:rPr>
              <a:t>IDEA</a:t>
            </a:r>
            <a:endParaRPr sz="1050" b="1" dirty="0">
              <a:solidFill>
                <a:srgbClr val="1C3456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5829" y="6028436"/>
            <a:ext cx="105613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2A3746"/>
                </a:solidFill>
                <a:latin typeface="Aptos"/>
              </a:rPr>
              <a:t>React → </a:t>
            </a:r>
            <a:r>
              <a:rPr sz="1050" b="0" dirty="0" err="1">
                <a:solidFill>
                  <a:srgbClr val="2A3746"/>
                </a:solidFill>
                <a:latin typeface="Aptos"/>
              </a:rPr>
              <a:t>FastAPI</a:t>
            </a:r>
            <a:r>
              <a:rPr sz="1050" b="0" dirty="0">
                <a:solidFill>
                  <a:srgbClr val="2A3746"/>
                </a:solidFill>
                <a:latin typeface="Aptos"/>
              </a:rPr>
              <a:t> → AI/</a:t>
            </a:r>
            <a:r>
              <a:rPr sz="1000" b="0" dirty="0">
                <a:solidFill>
                  <a:srgbClr val="2A3746"/>
                </a:solidFill>
                <a:latin typeface="Aptos"/>
              </a:rPr>
              <a:t>NLP</a:t>
            </a:r>
            <a:r>
              <a:rPr sz="1050" b="0" dirty="0">
                <a:solidFill>
                  <a:srgbClr val="2A3746"/>
                </a:solidFill>
                <a:latin typeface="Aptos"/>
              </a:rPr>
              <a:t> → MySQL →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7. Pseudocode /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Proposed approach in simple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309997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3074B5"/>
                </a:solidFill>
                <a:latin typeface="Aptos"/>
              </a:rP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36776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INPUT: Resume + Job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Extract resume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Extract skills, education and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Analyze job description and required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Compare candidate information with job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19856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Calculate job-fit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76472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Find matched skills and missing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33088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Generate resume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9704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Generate interview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Store results and display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02936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2A3746"/>
                </a:solidFill>
                <a:latin typeface="Aptos"/>
              </a:rPr>
              <a:t>Rank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59551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E26C5B"/>
                </a:solidFill>
                <a:latin typeface="Aptos"/>
              </a:rPr>
              <a:t>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417320"/>
            <a:ext cx="4069080" cy="1051560"/>
          </a:xfrm>
          <a:prstGeom prst="roundRect">
            <a:avLst/>
          </a:prstGeom>
          <a:solidFill>
            <a:srgbClr val="E8F2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360" y="1417320"/>
            <a:ext cx="64008" cy="105156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0" y="1600200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039112"/>
            <a:ext cx="365760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746"/>
                </a:solidFill>
                <a:latin typeface="Aptos"/>
              </a:rPr>
              <a:t>Read resume content and identify candidate information.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2697480"/>
            <a:ext cx="4069080" cy="1051560"/>
          </a:xfrm>
          <a:prstGeom prst="roundRect">
            <a:avLst/>
          </a:prstGeom>
          <a:solidFill>
            <a:srgbClr val="E8F7F6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52360" y="2697480"/>
            <a:ext cx="64008" cy="105156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0" y="2880360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319272"/>
            <a:ext cx="365760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746"/>
                </a:solidFill>
                <a:latin typeface="Aptos"/>
              </a:rPr>
              <a:t>Compare candidate information with job requirements.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3977639"/>
            <a:ext cx="4069080" cy="1051560"/>
          </a:xfrm>
          <a:prstGeom prst="roundRect">
            <a:avLst/>
          </a:prstGeom>
          <a:solidFill>
            <a:srgbClr val="F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52360" y="3977639"/>
            <a:ext cx="64008" cy="1051560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0" y="4160520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3456"/>
                </a:solidFill>
                <a:latin typeface="Aptos"/>
              </a:rPr>
              <a:t>SCORE &amp;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599431"/>
            <a:ext cx="365760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746"/>
                </a:solidFill>
                <a:latin typeface="Aptos"/>
              </a:rPr>
              <a:t>Calculate job-fit and identify matched/missing skills.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5257800"/>
            <a:ext cx="4069080" cy="1014984"/>
          </a:xfrm>
          <a:prstGeom prst="roundRect">
            <a:avLst/>
          </a:prstGeom>
          <a:solidFill>
            <a:srgbClr val="FDEFE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52360" y="5257799"/>
            <a:ext cx="64008" cy="1005839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5440680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3456"/>
                </a:solidFill>
                <a:latin typeface="Aptos"/>
              </a:rPr>
              <a:t>GENERATE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879592"/>
            <a:ext cx="365760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3746"/>
                </a:solidFill>
                <a:latin typeface="Aptos"/>
              </a:rPr>
              <a:t>Summary + interview questions + dashboard results.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8.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Conditions assumed for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3074B5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4389120"/>
          </a:xfrm>
          <a:prstGeom prst="roundRect">
            <a:avLst/>
          </a:prstGeom>
          <a:solidFill>
            <a:srgbClr val="E8F2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438912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6"/>
                </a:solidFill>
                <a:latin typeface="Aptos"/>
              </a:rPr>
              <a:t>PROJECT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48463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746"/>
                </a:solidFill>
                <a:latin typeface="Aptos"/>
              </a:rPr>
              <a:t>• Resumes are mainly PDF/DOCX.
• Job descriptions contain readable text.
• AI is a decision-support tool.
• Recruiter makes the final decision.
• Sample data can be used for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4389120"/>
          </a:xfrm>
          <a:prstGeom prst="roundRect">
            <a:avLst/>
          </a:prstGeom>
          <a:solidFill>
            <a:srgbClr val="E8F7F6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64008" cy="438912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6"/>
                </a:solidFill>
                <a:latin typeface="Aptos"/>
              </a:rPr>
              <a:t>DESIGN IMPLICATIONS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39112"/>
            <a:ext cx="48463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746"/>
                </a:solidFill>
                <a:latin typeface="Aptos"/>
              </a:rPr>
              <a:t>• Document extraction should handle common formats.
• Candidate information needs structured fields.
• AI output should support human review.
• Testing should use representative sample data.
• Final hiring authority remains with the recruiter.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9. Key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Technical, AI, fairness and operational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26C5B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100584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Different Resume Layouts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3746"/>
                </a:solidFill>
                <a:latin typeface="Aptos"/>
              </a:rPr>
              <a:t>Layouts may affect text extraction.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64008" cy="100584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Incorrect Text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9339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3746"/>
                </a:solidFill>
                <a:latin typeface="Aptos"/>
              </a:rPr>
              <a:t>Missing text can reduce analysis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78608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578608"/>
            <a:ext cx="64008" cy="1005840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76148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Skill Synonyms &amp;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0040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3746"/>
                </a:solidFill>
                <a:latin typeface="Aptos"/>
              </a:rPr>
              <a:t>Different terms may represent similar skills.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85616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785616"/>
            <a:ext cx="64008" cy="1005840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968496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Bias in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0740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3746"/>
                </a:solidFill>
                <a:latin typeface="Aptos"/>
              </a:rPr>
              <a:t>Candidate ranking should avoid unfair bias.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85616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785616"/>
            <a:ext cx="64008" cy="100584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968496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3456"/>
                </a:solidFill>
                <a:latin typeface="Aptos"/>
              </a:rPr>
              <a:t>Data Privacy &amp;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0740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3746"/>
                </a:solidFill>
                <a:latin typeface="Aptos"/>
              </a:rPr>
              <a:t>Candidate data must be handled responsibly.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5660" y="256032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5660" y="2560320"/>
            <a:ext cx="64008" cy="100584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4260" y="2743200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dirty="0">
                <a:solidFill>
                  <a:srgbClr val="1C3456"/>
                </a:solidFill>
                <a:latin typeface="Aptos"/>
              </a:rPr>
              <a:t>API Cost &amp; Response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4260" y="318211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A3746"/>
                </a:solidFill>
                <a:latin typeface="Aptos"/>
              </a:rPr>
              <a:t>AI services can affect cost and speed.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10. Queries for Faculty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4"/>
                </a:solidFill>
                <a:latin typeface="Aptos"/>
              </a:rPr>
              <a:t>Points to confirm before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35BA5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7863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C3456"/>
                </a:solidFill>
                <a:latin typeface="Aptos"/>
              </a:rPr>
              <a:t>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15035"/>
            <a:ext cx="4663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How can we improve resume parsing accuracy?</a:t>
            </a:r>
            <a:endParaRPr sz="1150" b="0" dirty="0">
              <a:solidFill>
                <a:srgbClr val="2A3746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74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64008" cy="7863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9380" y="1492094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3456"/>
                </a:solidFill>
                <a:latin typeface="Aptos"/>
              </a:rPr>
              <a:t>QUESTION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1822730"/>
            <a:ext cx="4663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What is the best method for calculating the job-fit score?</a:t>
            </a:r>
            <a:endParaRPr sz="1150" b="0" dirty="0">
              <a:solidFill>
                <a:srgbClr val="2A3746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2587752"/>
            <a:ext cx="5074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64008" cy="7863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" y="2679192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3456"/>
                </a:solidFill>
                <a:latin typeface="Aptos"/>
              </a:rPr>
              <a:t>QUESTION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53956"/>
            <a:ext cx="4663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How can we improve skill matching between resumes and jobs?</a:t>
            </a:r>
            <a:endParaRPr sz="1150" b="0" dirty="0">
              <a:solidFill>
                <a:srgbClr val="2A3746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2587752"/>
            <a:ext cx="5074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587752"/>
            <a:ext cx="64008" cy="7863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679192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3456"/>
                </a:solidFill>
                <a:latin typeface="Aptos"/>
              </a:rPr>
              <a:t>QUESTION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63741"/>
            <a:ext cx="4663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100" dirty="0"/>
              <a:t>How can we reduce bias in AI candidate ranking?</a:t>
            </a:r>
            <a:endParaRPr sz="1100" b="0" dirty="0">
              <a:solidFill>
                <a:srgbClr val="2A3746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3758184"/>
            <a:ext cx="5074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758184"/>
            <a:ext cx="64008" cy="7863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831336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3456"/>
                </a:solidFill>
                <a:latin typeface="Aptos"/>
              </a:rPr>
              <a:t>QUESTION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" y="4113155"/>
            <a:ext cx="4663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100" dirty="0"/>
              <a:t>How can we make AI results explainable to recruiters?</a:t>
            </a:r>
            <a:endParaRPr sz="1100" b="0" dirty="0">
              <a:solidFill>
                <a:srgbClr val="2A3746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63640" y="3758184"/>
            <a:ext cx="5074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3758184"/>
            <a:ext cx="64008" cy="7863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83219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1C3456"/>
                </a:solidFill>
                <a:latin typeface="Aptos"/>
              </a:rPr>
              <a:t>QUESTION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75745"/>
            <a:ext cx="4663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How should candidate data be kept secure and private?</a:t>
            </a:r>
            <a:endParaRPr sz="1150" b="0" dirty="0">
              <a:solidFill>
                <a:srgbClr val="2A3746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10927080" cy="713232"/>
          </a:xfrm>
          <a:prstGeom prst="roundRect">
            <a:avLst/>
          </a:prstGeom>
          <a:solidFill>
            <a:srgbClr val="E8F7F6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257800"/>
            <a:ext cx="64008" cy="713232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362514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1C3456"/>
                </a:solidFill>
                <a:latin typeface="Aptos"/>
              </a:rPr>
              <a:t>WHY THIS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" y="5604485"/>
            <a:ext cx="10515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A3746"/>
                </a:solidFill>
                <a:latin typeface="Aptos"/>
              </a:rPr>
              <a:t>These answers will help </a:t>
            </a:r>
            <a:r>
              <a:rPr sz="1050" b="0" dirty="0">
                <a:solidFill>
                  <a:srgbClr val="2A3746"/>
                </a:solidFill>
                <a:latin typeface="Aptos"/>
              </a:rPr>
              <a:t>finalize</a:t>
            </a:r>
            <a:r>
              <a:rPr sz="1100" b="0" dirty="0">
                <a:solidFill>
                  <a:srgbClr val="2A3746"/>
                </a:solidFill>
                <a:latin typeface="Aptos"/>
              </a:rPr>
              <a:t> the AI approach, deployment plan, evaluation method and data-handling process.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3456"/>
                </a:solidFill>
                <a:latin typeface="Aptos"/>
              </a:rPr>
              <a:t>11.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47484"/>
                </a:solidFill>
                <a:latin typeface="Aptos"/>
              </a:rPr>
              <a:t>What </a:t>
            </a:r>
            <a:r>
              <a:rPr sz="1200" b="0" dirty="0" err="1">
                <a:solidFill>
                  <a:srgbClr val="647484"/>
                </a:solidFill>
                <a:latin typeface="Aptos"/>
              </a:rPr>
              <a:t>Tal</a:t>
            </a:r>
            <a:r>
              <a:rPr lang="en-US" sz="1200" b="0" dirty="0" err="1">
                <a:solidFill>
                  <a:srgbClr val="647484"/>
                </a:solidFill>
                <a:latin typeface="Aptos"/>
              </a:rPr>
              <a:t>e</a:t>
            </a:r>
            <a:r>
              <a:rPr sz="1200" b="0" dirty="0" err="1">
                <a:solidFill>
                  <a:srgbClr val="647484"/>
                </a:solidFill>
                <a:latin typeface="Aptos"/>
              </a:rPr>
              <a:t>ntIQ</a:t>
            </a:r>
            <a:r>
              <a:rPr sz="1200" b="0" dirty="0">
                <a:solidFill>
                  <a:srgbClr val="647484"/>
                </a:solidFill>
                <a:latin typeface="Aptos"/>
              </a:rPr>
              <a:t> plans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83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dirty="0">
                <a:solidFill>
                  <a:srgbClr val="DAA243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456"/>
                </a:solidFill>
                <a:latin typeface="Aptos"/>
              </a:rPr>
              <a:t>OUR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733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A3746"/>
                </a:solidFill>
                <a:latin typeface="Aptos"/>
              </a:rPr>
              <a:t>Reduce repetitive resume screening work and provide recruiters with structured, explainable candidate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148132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30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127248"/>
            <a:ext cx="13533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Resume
AI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1" y="318211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2880360"/>
            <a:ext cx="148132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30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96896" y="3127248"/>
            <a:ext cx="13533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Job
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18211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880360"/>
            <a:ext cx="148132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735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3984" y="3127248"/>
            <a:ext cx="13533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Skill
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318211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880360"/>
            <a:ext cx="148132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2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3127248"/>
            <a:ext cx="13533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Interview
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18211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2880360"/>
            <a:ext cx="148132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AA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3127248"/>
            <a:ext cx="13533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Candidate
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4" y="318211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47484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2880360"/>
            <a:ext cx="148132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30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85248" y="3127248"/>
            <a:ext cx="13533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3456"/>
                </a:solidFill>
                <a:latin typeface="Aptos"/>
              </a:rPr>
              <a:t>Recruiter
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434840"/>
            <a:ext cx="10332720" cy="1188720"/>
          </a:xfrm>
          <a:prstGeom prst="roundRect">
            <a:avLst/>
          </a:prstGeom>
          <a:solidFill>
            <a:srgbClr val="FDEFE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434840"/>
            <a:ext cx="64008" cy="1188720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617720"/>
            <a:ext cx="9921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6"/>
                </a:solidFill>
                <a:latin typeface="Aptos"/>
              </a:rPr>
              <a:t>FINAL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056631"/>
            <a:ext cx="9921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A3746"/>
                </a:solidFill>
                <a:latin typeface="Aptos"/>
              </a:rPr>
              <a:t>AI assists the recruiter — it does not make the final hiring decision.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693408"/>
            <a:ext cx="987552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AI-POWERED RESUME ANALYZER &amp; INTERVIEW ASSISTANT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3074B5"/>
                </a:solidFill>
                <a:latin typeface="Aptos"/>
              </a:rPr>
              <a:t>TAL</a:t>
            </a:r>
            <a:r>
              <a:rPr lang="en-US" sz="1300" b="1" dirty="0">
                <a:solidFill>
                  <a:srgbClr val="3074B5"/>
                </a:solidFill>
                <a:latin typeface="Aptos"/>
              </a:rPr>
              <a:t>E</a:t>
            </a:r>
            <a:r>
              <a:rPr sz="1300" b="1" dirty="0">
                <a:solidFill>
                  <a:srgbClr val="3074B5"/>
                </a:solidFill>
                <a:latin typeface="Aptos"/>
              </a:rPr>
              <a:t>NTIQ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C3456"/>
                </a:solidFill>
                <a:latin typeface="Aptos"/>
              </a:rPr>
              <a:t>Database 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2240280"/>
            <a:ext cx="5486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309997"/>
                </a:solidFill>
                <a:latin typeface="Aptos"/>
              </a:rPr>
              <a:t>Database: </a:t>
            </a:r>
            <a:r>
              <a:rPr sz="2000" b="1" dirty="0" err="1">
                <a:solidFill>
                  <a:srgbClr val="309997"/>
                </a:solidFill>
                <a:latin typeface="Aptos"/>
              </a:rPr>
              <a:t>tal</a:t>
            </a:r>
            <a:r>
              <a:rPr lang="en-US" sz="2000" b="1" dirty="0" err="1">
                <a:solidFill>
                  <a:srgbClr val="309997"/>
                </a:solidFill>
                <a:latin typeface="Aptos"/>
              </a:rPr>
              <a:t>e</a:t>
            </a:r>
            <a:r>
              <a:rPr sz="2000" b="1" dirty="0" err="1">
                <a:solidFill>
                  <a:srgbClr val="309997"/>
                </a:solidFill>
                <a:latin typeface="Aptos"/>
              </a:rPr>
              <a:t>ntiq_db</a:t>
            </a:r>
            <a:endParaRPr sz="2000" b="1" dirty="0">
              <a:solidFill>
                <a:srgbClr val="30999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2880360"/>
            <a:ext cx="8046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47484"/>
                </a:solidFill>
                <a:latin typeface="Aptos"/>
              </a:rPr>
              <a:t>Structured data definitions for recruiter accounts, jobs, candidates, resumes, skills, AI analysis, scoring and interview preparation.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74B5"/>
                </a:solidFill>
                <a:latin typeface="Aptos"/>
              </a:rPr>
              <a:t>12 CORE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989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A3746"/>
                </a:solidFill>
                <a:latin typeface="Aptos"/>
              </a:rPr>
              <a:t>MSc IT  •  </a:t>
            </a:r>
            <a:r>
              <a:rPr sz="1200" b="1" dirty="0" err="1">
                <a:solidFill>
                  <a:srgbClr val="2A3746"/>
                </a:solidFill>
                <a:latin typeface="Aptos"/>
              </a:rPr>
              <a:t>Tal</a:t>
            </a:r>
            <a:r>
              <a:rPr lang="en-US" sz="1200" b="1" dirty="0" err="1">
                <a:solidFill>
                  <a:srgbClr val="2A3746"/>
                </a:solidFill>
                <a:latin typeface="Aptos"/>
              </a:rPr>
              <a:t>e</a:t>
            </a:r>
            <a:r>
              <a:rPr sz="1200" b="1" dirty="0" err="1">
                <a:solidFill>
                  <a:srgbClr val="2A3746"/>
                </a:solidFill>
                <a:latin typeface="Aptos"/>
              </a:rPr>
              <a:t>ntIQ</a:t>
            </a:r>
            <a:endParaRPr sz="1200" b="1" dirty="0">
              <a:solidFill>
                <a:srgbClr val="2A374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63276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4"/>
                </a:solidFill>
                <a:latin typeface="Aptos"/>
              </a:rPr>
              <a:t>Data Dictionary — Version 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Database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647484"/>
                </a:solidFill>
                <a:latin typeface="Aptos"/>
              </a:rPr>
              <a:t>tal</a:t>
            </a:r>
            <a:r>
              <a:rPr lang="en-US" sz="1100" b="0" dirty="0" err="1">
                <a:solidFill>
                  <a:srgbClr val="647484"/>
                </a:solidFill>
                <a:latin typeface="Aptos"/>
              </a:rPr>
              <a:t>e</a:t>
            </a:r>
            <a:r>
              <a:rPr sz="1100" b="0" dirty="0" err="1">
                <a:solidFill>
                  <a:srgbClr val="647484"/>
                </a:solidFill>
                <a:latin typeface="Aptos"/>
              </a:rPr>
              <a:t>ntiq_db</a:t>
            </a:r>
            <a:r>
              <a:rPr sz="1100" b="0" dirty="0">
                <a:solidFill>
                  <a:srgbClr val="647484"/>
                </a:solidFill>
                <a:latin typeface="Aptos"/>
              </a:rPr>
              <a:t> — purpose and table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999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456"/>
                </a:solidFill>
                <a:latin typeface="Aptos"/>
              </a:rPr>
              <a:t>DATABASE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73352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746"/>
                </a:solidFill>
                <a:latin typeface="Aptos"/>
              </a:rPr>
              <a:t>Store the structured data required for recruiter authentication, job management, candidate profiles, resume processing, skill matching, AI analysis, scoring, skill-gap detection and interview preparation.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3383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64008" cy="64008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953512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C3456"/>
                </a:solidFill>
                <a:latin typeface="Aptos"/>
              </a:rPr>
              <a:t>Identity &amp; Jobs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88920"/>
            <a:ext cx="3383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788920"/>
            <a:ext cx="64008" cy="64008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953512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C3456"/>
                </a:solidFill>
                <a:latin typeface="Aptos"/>
              </a:rPr>
              <a:t>Candidate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788920"/>
            <a:ext cx="3383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2788920"/>
            <a:ext cx="64008" cy="640080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2953512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C3456"/>
                </a:solidFill>
                <a:latin typeface="Aptos"/>
              </a:rPr>
              <a:t>Skills &amp; Matching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3383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160520"/>
            <a:ext cx="64008" cy="548640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C3456"/>
                </a:solidFill>
                <a:latin typeface="Aptos"/>
              </a:rPr>
              <a:t>AI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160520"/>
            <a:ext cx="3383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4160520"/>
            <a:ext cx="64008" cy="548640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4325112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C3456"/>
                </a:solidFill>
                <a:latin typeface="Aptos"/>
              </a:rPr>
              <a:t>Interview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A.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recruiter accounts and authentication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3074B5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user_id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Unique recruiter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full_name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VARCHAR(100)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Recruiter's 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email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VARCHAR(150)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UNIQUE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Login email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password_hash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VARCHAR(255)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Hashed password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role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recruiter / admin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is_active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BOOLEAN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Account status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Account creation time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updated_at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Last update time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C3456"/>
                </a:solidFill>
                <a:latin typeface="Aptos"/>
              </a:rPr>
              <a:t>B.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job positions and their descriptions.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309997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job_id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Unique job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recruiter_id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 dirty="0">
                <a:solidFill>
                  <a:srgbClr val="2A3746"/>
                </a:solidFill>
                <a:latin typeface="Aptos"/>
              </a:rPr>
              <a:t>Recruiter who created job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job_title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VARCHAR(150)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Position name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department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Department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location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VARCHAR(150)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Job location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employment_type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Full-time / Part-time / Internship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description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Complete job description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experience_min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DECIMAL(4,1)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Minimum experience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4828031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3484" y="491489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experience_max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40280" y="4828031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72284" y="491489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DECIMAL(4,1)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94760" y="4828031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26764" y="491489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828031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41164" y="491489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32120" y="4828031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64124" y="491489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Maximum experience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" y="5221224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43484" y="530809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status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40280" y="5221224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272284" y="530809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94760" y="5221224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826764" y="530809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09160" y="5221224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741164" y="530809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532120" y="5221224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564124" y="530809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Draft / Open / Closed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1480" y="5614416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43484" y="570128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40280" y="5614416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272284" y="570128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794760" y="5614416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826764" y="570128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09160" y="5614416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741164" y="570128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532120" y="5614416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564124" y="570128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Creation date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11480" y="6007607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43484" y="609447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updated_at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240280" y="6007607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272284" y="609447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94760" y="6007607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826764" y="609447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709160" y="6007607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741164" y="609447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532120" y="6007607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564124" y="609447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Last update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C.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the candidate's basic profile.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735BA5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candidate_id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Unique candidate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full_name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VARCHAR(150)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 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email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VARCHAR(150)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 email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phone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VARCHAR(20)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 phone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location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VARCHAR(150)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 location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total_experience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DECIMAL(4,1)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Total years of experience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highest_education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VARCHAR(150)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Highest qualification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linkedin_url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VARCHAR(255)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LinkedIn profile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4828031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3484" y="491489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github_url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40280" y="4828031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72284" y="491489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VARCHAR(255)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94760" y="4828031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26764" y="491489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828031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41164" y="491489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32120" y="4828031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64124" y="491489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GitHub profile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" y="5221224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43484" y="530809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40280" y="5221224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272284" y="530809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94760" y="5221224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826764" y="530809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09160" y="5221224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741164" y="530809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532120" y="5221224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564124" y="530809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Record creation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r>
              <a:rPr lang="en-IN" sz="750" b="1" dirty="0">
                <a:solidFill>
                  <a:srgbClr val="647484"/>
                </a:solidFill>
                <a:latin typeface="Aptos"/>
              </a:rPr>
              <a:t>	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D. resumes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uploaded resume metadata and extracted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E26C5B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resume_id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Unique resume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candidate_id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file_name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VARCHAR(255)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Original file name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file_type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VARCHAR(20)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PDF / DOCX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file_path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VARCHAR(500)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Storage location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file_size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BIGINT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File size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extracted_text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LONGTEXT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 extracted from resume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extraction_status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Pending / Success / Failed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4828031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3484" y="491489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uploaded_at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40280" y="4828031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72284" y="491489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94760" y="4828031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26764" y="491489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828031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41164" y="491489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32120" y="4828031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64124" y="491489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Upload time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E.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Master list of standardized skills.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DAA243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skill_id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Unique skill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skill_name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VARCHAR(100)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UNIQUE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Standard skill 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category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VARCHAR(100)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Programming / Database / Cloud / etc.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aliases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Alternative names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Creation time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F. candidate_skills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Connect candidates with skills found in their resumes.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09997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candidate_skill_id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Unique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candidate_id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skill_id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Skill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proficiency_level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Beginner / Intermediate / Advanced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years_experience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DECIMAL(4,1)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Experience with skill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evidence_text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Resume text supporting skill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source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NLP / Manual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confidence_score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Extraction confidence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4828031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3484" y="491489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40280" y="4828031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72284" y="491489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94760" y="4828031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26764" y="491489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828031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41164" y="491489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32120" y="4828031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64124" y="491489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Record creation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G. job_skills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skills required by each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35BA5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job_skill_id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Unique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job_id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Job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skill_id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Required skill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importance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Required / Preferred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minimum_experience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DECIMAL(4,1)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Required experience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weight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Skill scoring weight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Record creation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H. resume_analysis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the AI/NLP analysis performed on a candidate resume.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3074B5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128776"/>
            <a:ext cx="182880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" y="1229360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12" y="1128776"/>
            <a:ext cx="155448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95144" y="1229360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22192" y="1128776"/>
            <a:ext cx="91440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9624" y="1229360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6592" y="1128776"/>
            <a:ext cx="82296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1229360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128776"/>
            <a:ext cx="6355080" cy="420624"/>
          </a:xfrm>
          <a:prstGeom prst="rect">
            <a:avLst/>
          </a:prstGeom>
          <a:solidFill>
            <a:srgbClr val="30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86984" y="1229360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154939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" y="163626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analysis_id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7712" y="154939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99716" y="163626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22192" y="154939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54196" y="163626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36592" y="154939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68596" y="163626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59552" y="154939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91556" y="163626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Analysis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194259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" y="202946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resume_id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194259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99716" y="202946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22192" y="194259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54196" y="202946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194259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68596" y="202946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59552" y="194259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91556" y="202946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Resume analyzed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233578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916" y="242265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job_id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233578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99716" y="242265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22192" y="233578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54196" y="242265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36592" y="233578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68596" y="242265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59552" y="233578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91556" y="242265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Job being matched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272897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0916" y="281584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summary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67712" y="272897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99716" y="281584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22192" y="272897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54196" y="281584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36592" y="272897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68596" y="281584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59552" y="272897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91556" y="281584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AI-generated summary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" y="3122167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0916" y="320903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semantic_score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67712" y="3122167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99716" y="320903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22192" y="3122167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54196" y="320903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36592" y="3122167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68596" y="320903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59552" y="3122167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91556" y="320903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Resume / JD similarity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" y="351536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70916" y="360222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experience_score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67712" y="351536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99716" y="360222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22192" y="351536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54196" y="360222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36592" y="351536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68596" y="360222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9552" y="351536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91556" y="360222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Experience component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8912" y="3908552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70916" y="399541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education_score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67712" y="3908552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99716" y="399541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22192" y="3908552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54196" y="399541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36592" y="3908552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68596" y="399541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59552" y="3908552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91556" y="399541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Education component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8912" y="4301744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70916" y="4388611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skill_match_score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67712" y="4301744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99716" y="4388611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22192" y="4301744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54196" y="4388611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36592" y="4301744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68596" y="4388611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59552" y="4301744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91556" y="4388611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Skill component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38912" y="469493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70916" y="478180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resume_quality_score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67712" y="469493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99716" y="478180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22192" y="469493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54196" y="478180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36592" y="469493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68596" y="478180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59552" y="469493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91556" y="478180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Resume quality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8912" y="508812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70916" y="517499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overall_score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67712" y="508812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299716" y="517499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22192" y="508812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854196" y="517499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36592" y="508812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768596" y="517499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559552" y="508812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591556" y="517499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Final score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38912" y="5481320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70916" y="556818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analysis_status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67712" y="5481320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299716" y="556818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822192" y="5481320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854196" y="556818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36592" y="5481320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768596" y="556818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559552" y="5481320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591556" y="556818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Pending / Processing / Completed / Failed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38912" y="5874511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70916" y="596137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model_name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267712" y="5874511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299716" y="596137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VARCHAR(100)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822192" y="5874511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854196" y="596137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736592" y="5874511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768596" y="596137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559552" y="5874511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591556" y="596137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AI / model used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38912" y="6267704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70916" y="635457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analyzed_at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267712" y="6267704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299716" y="635457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822192" y="6267704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854196" y="635457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736592" y="6267704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768596" y="635457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559552" y="6267704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5591556" y="635457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Analysis date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76072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I. skill_gaps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missing and partially matched skills.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E26C5B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E26C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gap_id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Unique gap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analysis_id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Related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skill_id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Skill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gap_type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Missing / Partial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candidate_level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VARCHAR(50)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Candidate's observed level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required_level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VARCHAR(50)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Required level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explanation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Why skill is considered a gap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severity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Low / Medium / High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J. candidate_scores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explainable candidate scoring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DAA243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DAA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score_id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Score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analysis_id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Related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skill_score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Skill component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experience_score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Experience component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education_score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Education component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semantic_score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Semantic matching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resume_quality_score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Resume quality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final_score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DECIMAL(5,2)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Final score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4828031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3484" y="491489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ranking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40280" y="4828031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72284" y="491489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94760" y="4828031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26764" y="491489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828031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41164" y="491489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32120" y="4828031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64124" y="491489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 rank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" y="5221224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43484" y="530809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scoring_version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40280" y="5221224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272284" y="530809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VARCHAR(30)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94760" y="5221224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826764" y="530809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09160" y="5221224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741164" y="530809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532120" y="5221224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564124" y="530809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Scoring formula version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1480" y="5614416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43484" y="570128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40280" y="5614416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272284" y="570128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794760" y="5614416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826764" y="570128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09160" y="5614416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741164" y="570128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532120" y="5614416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564124" y="570128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Score creation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K. interview_questions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AI-generated interview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35BA5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735B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question_id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Question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analysis_id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 / job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question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Generated question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question_type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Technical / Behavioral / Experience / Skill Gap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difficulty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Easy / Medium / Hard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related_skill_id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Related skill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reason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Why question was generated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generated_by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VARCHAR(100)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AI / model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4828031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3484" y="491489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40280" y="4828031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72284" y="491489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94760" y="4828031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26764" y="491489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828031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41164" y="491489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32120" y="4828031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64124" y="491489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Creation time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L. interview_sessions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Store an interview preparation/session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309997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82880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362456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261872"/>
            <a:ext cx="155448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136245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261872"/>
            <a:ext cx="91440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2" y="1362456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61872"/>
            <a:ext cx="82296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62456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261872"/>
            <a:ext cx="6355080" cy="420624"/>
          </a:xfrm>
          <a:prstGeom prst="rect">
            <a:avLst/>
          </a:prstGeom>
          <a:solidFill>
            <a:srgbClr val="3099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62456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82495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" y="1769363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session_id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682495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72284" y="1769363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1682495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6764" y="1769363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PK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82495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41164" y="1769363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682495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64124" y="1769363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Session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075688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" y="2162556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candidate_id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2075688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2284" y="2162556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075688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6764" y="2162556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075688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41164" y="2162556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2075688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4124" y="2162556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Candidate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468879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" y="2555748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job_id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468879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72284" y="2555748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2468879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6764" y="2555748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468879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41164" y="2555748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2468879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64124" y="255574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Job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862072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" y="2948940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recruiter_id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0280" y="2862072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72284" y="2948940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INT UNSIGNED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2862072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26764" y="294894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FK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2862072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41164" y="2948940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862072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64124" y="2948940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Recruiter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255263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" y="3342132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session_status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3255263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72284" y="3342132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ENUM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3255263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26764" y="3342132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255263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1164" y="3342132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32120" y="3255263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64124" y="3342132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Created / In Progress / Completed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648456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3484" y="3735324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started_at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0280" y="3648456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272284" y="3735324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3648456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6764" y="3735324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9160" y="3648456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41164" y="3735324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48456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4124" y="3735324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Start time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041648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" y="4128515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completed_at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40280" y="4041648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272284" y="4128515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94760" y="4041648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826764" y="4128515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60" y="4041648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41164" y="4128515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32120" y="4041648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64124" y="4128515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Completion time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4434840"/>
            <a:ext cx="18288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3484" y="4521707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notes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40280" y="4434840"/>
            <a:ext cx="15544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272284" y="4521707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TEXT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434840"/>
            <a:ext cx="91440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826764" y="4521707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09160" y="4434840"/>
            <a:ext cx="82296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41164" y="4521707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4434840"/>
            <a:ext cx="6355080" cy="393192"/>
          </a:xfrm>
          <a:prstGeom prst="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64124" y="4521707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Recruiter notes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4828031"/>
            <a:ext cx="18288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3484" y="4914899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1C3456"/>
                </a:solidFill>
                <a:latin typeface="Aptos"/>
              </a:rPr>
              <a:t>created_at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40280" y="4828031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272284" y="4914899"/>
            <a:ext cx="1490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TIMESTAMP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94760" y="4828031"/>
            <a:ext cx="9144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26764" y="491489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828031"/>
            <a:ext cx="8229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41164" y="4914899"/>
            <a:ext cx="7589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A3746"/>
                </a:solidFill>
                <a:latin typeface="Aptos"/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32120" y="4828031"/>
            <a:ext cx="6355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64124" y="4914899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2A3746"/>
                </a:solidFill>
                <a:latin typeface="Aptos"/>
              </a:rPr>
              <a:t>Session creation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Database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4"/>
                </a:solidFill>
                <a:latin typeface="Aptos"/>
              </a:rPr>
              <a:t>High-level relationship map for </a:t>
            </a:r>
            <a:r>
              <a:rPr sz="1100" b="0" dirty="0" err="1">
                <a:solidFill>
                  <a:srgbClr val="647484"/>
                </a:solidFill>
                <a:latin typeface="Aptos"/>
              </a:rPr>
              <a:t>tal</a:t>
            </a:r>
            <a:r>
              <a:rPr lang="en-US" sz="1100" b="0" dirty="0" err="1">
                <a:solidFill>
                  <a:srgbClr val="647484"/>
                </a:solidFill>
                <a:latin typeface="Aptos"/>
              </a:rPr>
              <a:t>e</a:t>
            </a:r>
            <a:r>
              <a:rPr sz="1100" b="0" dirty="0" err="1">
                <a:solidFill>
                  <a:srgbClr val="647484"/>
                </a:solidFill>
                <a:latin typeface="Aptos"/>
              </a:rPr>
              <a:t>ntiq_db</a:t>
            </a:r>
            <a:endParaRPr sz="1100" b="0" dirty="0">
              <a:solidFill>
                <a:srgbClr val="64748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735BA5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63039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users   1 → many  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65376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Recruiter creates multiple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73936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773936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38528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candidates   1 → many   resumes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40864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Candidate can have multiple resumes.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49424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249424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414016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candidates   many ↔ many  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16352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Through candidate_skills.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24912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724912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889504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jobs   many ↔ many  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91840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Through job_skills.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200400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200400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364992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resumes   1 → many   resume_analysis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67328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Resume can be matched against jobs.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675887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675887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840479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jobs   1 → many   resume_analysis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42816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Job can have many candidate analyses.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151375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4151375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315967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resume_analysis   1 → many   skill_gaps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18303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Analysis can produce multiple gaps.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626863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4626863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791455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resume_analysis   1 → 1   candidate_scores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93791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Scoring record summarizes components.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102351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5102351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266943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resume_analysis   1 → many   interview_questions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69279"/>
            <a:ext cx="1056132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2A3746"/>
                </a:solidFill>
                <a:latin typeface="Aptos"/>
              </a:rPr>
              <a:t>Analysis can generate multiple questions.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577839"/>
            <a:ext cx="10972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0" y="5577839"/>
            <a:ext cx="64008" cy="438912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5742431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3456"/>
                </a:solidFill>
                <a:latin typeface="Aptos"/>
              </a:rPr>
              <a:t>candidates + jobs + users   →   interview_sessions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3456"/>
                </a:solidFill>
                <a:latin typeface="Aptos"/>
              </a:rPr>
              <a:t>Implementation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4"/>
                </a:solidFill>
                <a:latin typeface="Aptos"/>
              </a:rPr>
              <a:t>Practical rules for the first database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6294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dirty="0">
                <a:solidFill>
                  <a:srgbClr val="309997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1234440"/>
          </a:xfrm>
          <a:prstGeom prst="roundRect">
            <a:avLst/>
          </a:prstGeom>
          <a:solidFill>
            <a:srgbClr val="E8F2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1234440"/>
          </a:xfrm>
          <a:prstGeom prst="rect">
            <a:avLst/>
          </a:prstGeom>
          <a:solidFill>
            <a:srgbClr val="30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456"/>
                </a:solidFill>
                <a:latin typeface="Aptos"/>
              </a:rPr>
              <a:t>FILE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3746"/>
                </a:solidFill>
                <a:latin typeface="Aptos"/>
              </a:rPr>
              <a:t>Keep PDF/DOCX files in local/cloud storage and save the storage path in resumes.file_path.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1234440"/>
          </a:xfrm>
          <a:prstGeom prst="roundRect">
            <a:avLst/>
          </a:prstGeom>
          <a:solidFill>
            <a:srgbClr val="F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64008" cy="1234440"/>
          </a:xfrm>
          <a:prstGeom prst="rect">
            <a:avLst/>
          </a:prstGeom>
          <a:solidFill>
            <a:srgbClr val="735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456"/>
                </a:solidFill>
                <a:latin typeface="Aptos"/>
              </a:rPr>
              <a:t>NORMALIZED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3746"/>
                </a:solidFill>
                <a:latin typeface="Aptos"/>
              </a:rPr>
              <a:t>Use skills + candidate_skills + job_skills instead of one comma-separated skills field.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5303520" cy="1234440"/>
          </a:xfrm>
          <a:prstGeom prst="roundRect">
            <a:avLst/>
          </a:prstGeom>
          <a:solidFill>
            <a:srgbClr val="FDEFE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880360"/>
            <a:ext cx="64008" cy="1234440"/>
          </a:xfrm>
          <a:prstGeom prst="rect">
            <a:avLst/>
          </a:prstGeom>
          <a:solidFill>
            <a:srgbClr val="E26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04495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456"/>
                </a:solidFill>
                <a:latin typeface="Aptos"/>
              </a:rPr>
              <a:t>EXPLAINABLE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47288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3746"/>
                </a:solidFill>
                <a:latin typeface="Aptos"/>
              </a:rPr>
              <a:t>Keep scoring components separately so recruiters can understand the final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303520" cy="1234440"/>
          </a:xfrm>
          <a:prstGeom prst="roundRect">
            <a:avLst/>
          </a:prstGeom>
          <a:solidFill>
            <a:srgbClr val="E8F7F6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880360"/>
            <a:ext cx="64008" cy="1234440"/>
          </a:xfrm>
          <a:prstGeom prst="rect">
            <a:avLst/>
          </a:prstGeom>
          <a:solidFill>
            <a:srgbClr val="30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04495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3456"/>
                </a:solidFill>
                <a:latin typeface="Aptos"/>
              </a:rPr>
              <a:t>AI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3746"/>
                </a:solidFill>
                <a:latin typeface="Aptos"/>
              </a:rPr>
              <a:t>Store model_name, confidence_score, evidence/reason and scoring_version where applicable.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89120"/>
            <a:ext cx="10881360" cy="1143000"/>
          </a:xfrm>
          <a:prstGeom prst="roundRect">
            <a:avLst/>
          </a:prstGeom>
          <a:solidFill>
            <a:srgbClr val="FCF6E5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64008" cy="1143000"/>
          </a:xfrm>
          <a:prstGeom prst="rect">
            <a:avLst/>
          </a:prstGeom>
          <a:solidFill>
            <a:srgbClr val="DAA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553712"/>
            <a:ext cx="10469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6"/>
                </a:solidFill>
                <a:latin typeface="Aptos"/>
              </a:rPr>
              <a:t>DATA DICTIONARY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56048"/>
            <a:ext cx="10469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A3746"/>
                </a:solidFill>
                <a:latin typeface="Aptos"/>
              </a:rPr>
              <a:t>Every field has a clear business purpose, data type, key/constraint, required status and description.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693408"/>
            <a:ext cx="1005840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750" b="1" dirty="0">
                <a:solidFill>
                  <a:srgbClr val="647484"/>
                </a:solidFill>
                <a:latin typeface="Aptos"/>
              </a:rPr>
              <a:t>TALENTIQ  •  DATABASE DATA DICTIONARY  •  </a:t>
            </a:r>
            <a:r>
              <a:rPr lang="en-IN" sz="750" b="1" dirty="0" err="1">
                <a:solidFill>
                  <a:srgbClr val="647484"/>
                </a:solidFill>
                <a:latin typeface="Aptos"/>
              </a:rPr>
              <a:t>talentiq_db</a:t>
            </a:r>
            <a:endParaRPr lang="en-IN" sz="750" b="1" dirty="0">
              <a:solidFill>
                <a:srgbClr val="6474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1FBBCA9-5FE3-32FD-AD27-F7A4AC6A5CA2}"/>
              </a:ext>
            </a:extLst>
          </p:cNvPr>
          <p:cNvGrpSpPr/>
          <p:nvPr/>
        </p:nvGrpSpPr>
        <p:grpSpPr>
          <a:xfrm>
            <a:off x="2667000" y="2606040"/>
            <a:ext cx="6858000" cy="1648599"/>
            <a:chOff x="731520" y="1234440"/>
            <a:chExt cx="6858000" cy="1648599"/>
          </a:xfrm>
        </p:grpSpPr>
        <p:sp>
          <p:nvSpPr>
            <p:cNvPr id="2" name="TextBox 1"/>
            <p:cNvSpPr txBox="1"/>
            <p:nvPr/>
          </p:nvSpPr>
          <p:spPr>
            <a:xfrm>
              <a:off x="731520" y="1234440"/>
              <a:ext cx="6858000" cy="61555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3400" b="1" dirty="0">
                  <a:solidFill>
                    <a:srgbClr val="1C3456"/>
                  </a:solidFill>
                  <a:latin typeface="Aptos"/>
                </a:rPr>
                <a:t>THANK YOU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31520" y="1874519"/>
              <a:ext cx="68580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3074B5"/>
                  </a:solidFill>
                  <a:latin typeface="Aptos"/>
                </a:rPr>
                <a:t>Questions &amp; Feedback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31520" y="2606040"/>
              <a:ext cx="685800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200" b="0" dirty="0" err="1">
                  <a:solidFill>
                    <a:srgbClr val="647484"/>
                  </a:solidFill>
                  <a:latin typeface="Aptos"/>
                </a:rPr>
                <a:t>Tal</a:t>
              </a:r>
              <a:r>
                <a:rPr lang="en-US" sz="1200" b="0" dirty="0" err="1">
                  <a:solidFill>
                    <a:srgbClr val="647484"/>
                  </a:solidFill>
                  <a:latin typeface="Aptos"/>
                </a:rPr>
                <a:t>e</a:t>
              </a:r>
              <a:r>
                <a:rPr sz="1200" b="0" dirty="0" err="1">
                  <a:solidFill>
                    <a:srgbClr val="647484"/>
                  </a:solidFill>
                  <a:latin typeface="Aptos"/>
                </a:rPr>
                <a:t>ntIQ</a:t>
              </a:r>
              <a:r>
                <a:rPr sz="1200" b="0" dirty="0">
                  <a:solidFill>
                    <a:srgbClr val="647484"/>
                  </a:solidFill>
                  <a:latin typeface="Aptos"/>
                </a:rPr>
                <a:t>  |  </a:t>
              </a:r>
              <a:r>
                <a:rPr lang="en-IN" sz="1200" dirty="0">
                  <a:solidFill>
                    <a:srgbClr val="647484"/>
                  </a:solidFill>
                  <a:latin typeface="Aptos"/>
                </a:rPr>
                <a:t>Utang Patel  •  Shreya Raval</a:t>
              </a:r>
              <a:r>
                <a:rPr sz="1200" b="0" dirty="0">
                  <a:solidFill>
                    <a:srgbClr val="647484"/>
                  </a:solidFill>
                  <a:latin typeface="Aptos"/>
                </a:rPr>
                <a:t>|  MSc IT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2941</Words>
  <Application>Microsoft Office PowerPoint</Application>
  <PresentationFormat>Widescreen</PresentationFormat>
  <Paragraphs>946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</dc:creator>
  <cp:keywords/>
  <dc:description>generated using python-pptx</dc:description>
  <cp:lastModifiedBy>Sumit Tirmare</cp:lastModifiedBy>
  <cp:revision>5</cp:revision>
  <dcterms:created xsi:type="dcterms:W3CDTF">2013-01-27T09:14:16Z</dcterms:created>
  <dcterms:modified xsi:type="dcterms:W3CDTF">2026-08-21T12:09:34Z</dcterms:modified>
  <cp:category/>
</cp:coreProperties>
</file>